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docProps/custom.xml" ContentType="application/vnd.openxmlformats-officedocument.custom-properties+xml"/>
</Types>
</file>

<file path=_rels/.rels><?xml version="1.0" encoding="UTF-8" standalone="yes" ?>
<Relationships xmlns="http://schemas.openxmlformats.org/package/2006/relationships">
    <Relationship Id="rId1" Type="http://schemas.openxmlformats.org/officeDocument/2006/relationships/officeDocument" Target="ppt/presentation.xml" />
    <Relationship Id="rId2" Type="http://schemas.openxmlformats.org/package/2006/relationships/metadata/thumbnail" Target="docProps/thumbnail.jpeg" />
    <Relationship Id="rId3" Type="http://schemas.openxmlformats.org/package/2006/relationships/metadata/core-properties" Target="docProps/core.xml" />
    <Relationship Id="rId4" Type="http://schemas.openxmlformats.org/officeDocument/2006/relationships/extended-properties" Target="docProps/app.xml" />
    <Relationship Id="rId5" Type="http://schemas.openxmlformats.org/officeDocument/2006/relationships/custom-properties" Target="docProps/custom.xml" 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gif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A237E"/>
            </a:gs>
            <a:gs pos="100000">
              <a:srgbClr val="0D47A1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3657600"/>
            <a:ext cx="4572000" cy="4572000"/>
          </a:xfrm>
          <a:prstGeom prst="ellipse">
            <a:avLst/>
          </a:prstGeom>
          <a:solidFill>
            <a:srgbClr val="15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  <a:latin typeface="微软雅黑"/>
              </a:defRPr>
            </a:pPr>
            <a:r>
              <a:t>云笔记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BBDEFB"/>
                </a:solidFill>
                <a:latin typeface="微软雅黑"/>
              </a:defRPr>
            </a:pPr>
            <a:r>
              <a:t>CloudNotes — 智能高效的桌面笔记解决方案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3474720"/>
            <a:ext cx="3017520" cy="36576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00400" y="3840480"/>
            <a:ext cx="1371600" cy="411480"/>
          </a:xfrm>
          <a:prstGeom prst="roundRect">
            <a:avLst>
              <a:gd name="adj" fmla="val 50000"/>
            </a:avLst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0" y="386791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微软雅黑"/>
              </a:defRPr>
            </a:pPr>
            <a:r>
              <a:t>轻量极速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3840480"/>
            <a:ext cx="1371600" cy="411480"/>
          </a:xfrm>
          <a:prstGeom prst="roundRect">
            <a:avLst>
              <a:gd name="adj" fmla="val 50000"/>
            </a:avLst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386791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微软雅黑"/>
              </a:defRPr>
            </a:pPr>
            <a:r>
              <a:t>安全可靠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3840480"/>
            <a:ext cx="1371600" cy="411480"/>
          </a:xfrm>
          <a:prstGeom prst="roundRect">
            <a:avLst>
              <a:gd name="adj" fmla="val 50000"/>
            </a:avLst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386791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微软雅黑"/>
              </a:defRPr>
            </a:pPr>
            <a:r>
              <a:t>多格式支持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3840480"/>
            <a:ext cx="1371600" cy="411480"/>
          </a:xfrm>
          <a:prstGeom prst="roundRect">
            <a:avLst>
              <a:gd name="adj" fmla="val 50000"/>
            </a:avLst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386791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微软雅黑"/>
              </a:defRPr>
            </a:pPr>
            <a:r>
              <a:t>桌面便签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0CAF9"/>
                </a:solidFill>
                <a:latin typeface="微软雅黑"/>
              </a:defRPr>
            </a:pPr>
            <a:r>
              <a:t>v1.0  |  2026年3月</a:t>
            </a:r>
          </a:p>
        </p:txBody>
      </p:sp>
    </p:spTree>
  </p:cSld>
  <p:transition spd="med">
    <p:fade/>
  </p:transition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293B"/>
                </a:solidFill>
                <a:latin typeface="微软雅黑"/>
              </a:defRPr>
            </a:pPr>
            <a:r>
              <a:t>目录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97280" cy="457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" y="1645920"/>
            <a:ext cx="502920" cy="50292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91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微软雅黑"/>
              </a:defRPr>
            </a:pPr>
            <a:r>
              <a:t>市场洞察与痛点</a:t>
            </a:r>
          </a:p>
        </p:txBody>
      </p:sp>
      <p:sp>
        <p:nvSpPr>
          <p:cNvPr id="6" name="Oval 5"/>
          <p:cNvSpPr/>
          <p:nvPr/>
        </p:nvSpPr>
        <p:spPr>
          <a:xfrm>
            <a:off x="4389120" y="1645920"/>
            <a:ext cx="502920" cy="502920"/>
          </a:xfrm>
          <a:prstGeom prst="ellipse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691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微软雅黑"/>
              </a:defRPr>
            </a:pPr>
            <a:r>
              <a:t>产品亮点与核心优势</a:t>
            </a:r>
          </a:p>
        </p:txBody>
      </p:sp>
      <p:sp>
        <p:nvSpPr>
          <p:cNvPr id="8" name="Oval 7"/>
          <p:cNvSpPr/>
          <p:nvPr/>
        </p:nvSpPr>
        <p:spPr>
          <a:xfrm>
            <a:off x="8046720" y="1645920"/>
            <a:ext cx="502920" cy="5029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1691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微软雅黑"/>
              </a:defRPr>
            </a:pPr>
            <a:r>
              <a:t>功能全景展示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200400"/>
            <a:ext cx="502920" cy="502920"/>
          </a:xfrm>
          <a:prstGeom prst="ellipse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246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微软雅黑"/>
              </a:defRPr>
            </a:pPr>
            <a:r>
              <a:t>产品实机演示</a:t>
            </a:r>
          </a:p>
        </p:txBody>
      </p:sp>
      <p:sp>
        <p:nvSpPr>
          <p:cNvPr id="12" name="Oval 11"/>
          <p:cNvSpPr/>
          <p:nvPr/>
        </p:nvSpPr>
        <p:spPr>
          <a:xfrm>
            <a:off x="4389120" y="3200400"/>
            <a:ext cx="502920" cy="502920"/>
          </a:xfrm>
          <a:prstGeom prst="ellipse">
            <a:avLst/>
          </a:prstGeom>
          <a:solidFill>
            <a:srgbClr val="E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3246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微软雅黑"/>
              </a:defRPr>
            </a:pPr>
            <a:r>
              <a:t>技术架构</a:t>
            </a:r>
          </a:p>
        </p:txBody>
      </p:sp>
      <p:sp>
        <p:nvSpPr>
          <p:cNvPr id="14" name="Oval 13"/>
          <p:cNvSpPr/>
          <p:nvPr/>
        </p:nvSpPr>
        <p:spPr>
          <a:xfrm>
            <a:off x="8046720" y="3200400"/>
            <a:ext cx="502920" cy="50292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3246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微软雅黑"/>
              </a:defRPr>
            </a:pPr>
            <a:r>
              <a:t>商业模式与定价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4754880"/>
            <a:ext cx="502920" cy="502920"/>
          </a:xfrm>
          <a:prstGeom prst="ellipse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800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微软雅黑"/>
              </a:defRPr>
            </a:pPr>
            <a:r>
              <a:t>服务保障与支持</a:t>
            </a:r>
          </a:p>
        </p:txBody>
      </p:sp>
      <p:sp>
        <p:nvSpPr>
          <p:cNvPr id="18" name="Oval 17"/>
          <p:cNvSpPr/>
          <p:nvPr/>
        </p:nvSpPr>
        <p:spPr>
          <a:xfrm>
            <a:off x="4389120" y="4754880"/>
            <a:ext cx="502920" cy="502920"/>
          </a:xfrm>
          <a:prstGeom prst="ellipse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08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4800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微软雅黑"/>
              </a:defRPr>
            </a:pPr>
            <a:r>
              <a:t>竞品对比</a:t>
            </a:r>
          </a:p>
        </p:txBody>
      </p:sp>
      <p:sp>
        <p:nvSpPr>
          <p:cNvPr id="20" name="Oval 19"/>
          <p:cNvSpPr/>
          <p:nvPr/>
        </p:nvSpPr>
        <p:spPr>
          <a:xfrm>
            <a:off x="8046720" y="4754880"/>
            <a:ext cx="502920" cy="5029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09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4800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微软雅黑"/>
              </a:defRPr>
            </a:pPr>
            <a:r>
              <a:t>产品路线图</a:t>
            </a:r>
          </a:p>
        </p:txBody>
      </p:sp>
    </p:spTree>
  </p:cSld>
  <p:transition spd="med">
    <p:push dir="l"/>
  </p:transition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73E8"/>
                </a:solidFill>
                <a:latin typeface="微软雅黑"/>
              </a:defRPr>
            </a:pPr>
            <a:r>
              <a:t>01  市场洞察与痛点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293B"/>
                </a:solidFill>
                <a:latin typeface="微软雅黑"/>
              </a:defRPr>
            </a:pPr>
            <a:r>
              <a:t>数字化办公市场高速增长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303520" cy="685800"/>
          </a:xfrm>
          <a:prstGeom prst="roundRect">
            <a:avLst>
              <a:gd name="adj" fmla="val 15000"/>
            </a:avLst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84832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73E8"/>
                </a:solidFill>
                <a:latin typeface="微软雅黑"/>
              </a:defRPr>
            </a:pPr>
            <a:r>
              <a:t>327亿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21488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B8D"/>
                </a:solidFill>
                <a:latin typeface="微软雅黑"/>
              </a:defRPr>
            </a:pPr>
            <a:r>
              <a:t>2025 全球笔记/知识管理市场规模（美元）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834640"/>
            <a:ext cx="5303520" cy="685800"/>
          </a:xfrm>
          <a:prstGeom prst="roundRect">
            <a:avLst>
              <a:gd name="adj" fmla="val 15000"/>
            </a:avLst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907792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73E8"/>
                </a:solidFill>
                <a:latin typeface="微软雅黑"/>
              </a:defRPr>
            </a:pPr>
            <a:r>
              <a:t>23.4%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29718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B8D"/>
                </a:solidFill>
                <a:latin typeface="微软雅黑"/>
              </a:defRPr>
            </a:pPr>
            <a:r>
              <a:t>年复合增长率 (CAGR 2023-2028)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657600"/>
            <a:ext cx="5303520" cy="685800"/>
          </a:xfrm>
          <a:prstGeom prst="roundRect">
            <a:avLst>
              <a:gd name="adj" fmla="val 15000"/>
            </a:avLst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730752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73E8"/>
                </a:solidFill>
                <a:latin typeface="微软雅黑"/>
              </a:defRPr>
            </a:pPr>
            <a:r>
              <a:t>78%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37947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B8D"/>
                </a:solidFill>
                <a:latin typeface="微软雅黑"/>
              </a:defRPr>
            </a:pPr>
            <a:r>
              <a:t>企业员工日常使用笔记工具的比例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480560"/>
            <a:ext cx="5303520" cy="685800"/>
          </a:xfrm>
          <a:prstGeom prst="roundRect">
            <a:avLst>
              <a:gd name="adj" fmla="val 15000"/>
            </a:avLst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553712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73E8"/>
                </a:solidFill>
                <a:latin typeface="微软雅黑"/>
              </a:defRPr>
            </a:pPr>
            <a:r>
              <a:t>3.2个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46177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B8D"/>
                </a:solidFill>
                <a:latin typeface="微软雅黑"/>
              </a:defRPr>
            </a:pPr>
            <a:r>
              <a:t>平均每人使用的笔记工具数量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83A3A"/>
                </a:solidFill>
                <a:latin typeface="微软雅黑"/>
              </a:defRPr>
            </a:pPr>
            <a:r>
              <a:t>用户核心痛点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0" y="2011680"/>
            <a:ext cx="50292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E8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766560" y="2194560"/>
            <a:ext cx="457200" cy="457200"/>
          </a:xfrm>
          <a:prstGeom prst="ellipse">
            <a:avLst/>
          </a:prstGeom>
          <a:solidFill>
            <a:srgbClr val="E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210312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微软雅黑"/>
              </a:defRPr>
            </a:pPr>
            <a:r>
              <a:t>数据安全隐患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246888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B8D"/>
                </a:solidFill>
                <a:latin typeface="微软雅黑"/>
              </a:defRPr>
            </a:pPr>
            <a:r>
              <a:t>云端存储存在数据泄露风险，企业敏感信息无法得到有效保护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0" y="3063240"/>
            <a:ext cx="50292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E8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766560" y="3246120"/>
            <a:ext cx="457200" cy="457200"/>
          </a:xfrm>
          <a:prstGeom prst="ellipse">
            <a:avLst/>
          </a:prstGeom>
          <a:solidFill>
            <a:srgbClr val="E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315468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微软雅黑"/>
              </a:defRPr>
            </a:pPr>
            <a:r>
              <a:t>功能臃肿卡顿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352044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B8D"/>
                </a:solidFill>
                <a:latin typeface="微软雅黑"/>
              </a:defRPr>
            </a:pPr>
            <a:r>
              <a:t>主流笔记应用功能过多，启动缓慢，占用资源大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0" y="4114800"/>
            <a:ext cx="50292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E8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766560" y="4297680"/>
            <a:ext cx="457200" cy="457200"/>
          </a:xfrm>
          <a:prstGeom prst="ellipse">
            <a:avLst/>
          </a:prstGeom>
          <a:solidFill>
            <a:srgbClr val="E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420624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微软雅黑"/>
              </a:defRPr>
            </a:pPr>
            <a:r>
              <a:t>格式碎片化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457200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B8D"/>
                </a:solidFill>
                <a:latin typeface="微软雅黑"/>
              </a:defRPr>
            </a:pPr>
            <a:r>
              <a:t>不同工具间数据难以互通，格式转换丢失内容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0" y="5166360"/>
            <a:ext cx="50292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E8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766560" y="5349240"/>
            <a:ext cx="457200" cy="457200"/>
          </a:xfrm>
          <a:prstGeom prst="ellipse">
            <a:avLst/>
          </a:prstGeom>
          <a:solidFill>
            <a:srgbClr val="E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06640" y="525780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微软雅黑"/>
              </a:defRPr>
            </a:pPr>
            <a:r>
              <a:t>缺乏桌面集成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6640" y="562356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B8D"/>
                </a:solidFill>
                <a:latin typeface="微软雅黑"/>
              </a:defRPr>
            </a:pPr>
            <a:r>
              <a:t>无法与桌面工作流深度融合，切换成本高</a:t>
            </a:r>
          </a:p>
        </p:txBody>
      </p:sp>
    </p:spTree>
  </p:cSld>
  <p:transition spd="med">
    <p:wipe dir="d"/>
  </p:transition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D47A1"/>
            </a:gs>
            <a:gs pos="100000">
              <a:srgbClr val="1565C0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02  产品亮点与核心优势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38328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5544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1E293B"/>
                </a:solidFill>
                <a:latin typeface="微软雅黑"/>
              </a:defRPr>
            </a:pPr>
            <a:r>
              <a:t>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6002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93B"/>
                </a:solidFill>
                <a:latin typeface="微软雅黑"/>
              </a:defRPr>
            </a:pPr>
            <a:r>
              <a:t>极速启动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45920" y="201168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  <a:latin typeface="微软雅黑"/>
              </a:defRPr>
            </a:pPr>
            <a:r>
              <a:t>&lt; 2s 冷启动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B8D"/>
                </a:solidFill>
                <a:latin typeface="微软雅黑"/>
              </a:defRPr>
            </a:pPr>
            <a:r>
              <a:t>原生技术栈，零框架依赖</a:t>
            </a:r>
            <a:br/>
            <a:r>
              <a:t>告别漫长等待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1371600"/>
            <a:ext cx="338328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79" y="15544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1E293B"/>
                </a:solidFill>
                <a:latin typeface="微软雅黑"/>
              </a:defRPr>
            </a:pPr>
            <a:r>
              <a:t>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59" y="16002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93B"/>
                </a:solidFill>
                <a:latin typeface="微软雅黑"/>
              </a:defRPr>
            </a:pPr>
            <a:r>
              <a:t>数据安全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94959" y="201168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  <a:latin typeface="微软雅黑"/>
              </a:defRPr>
            </a:pPr>
            <a:r>
              <a:t>本地优先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242316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B8D"/>
                </a:solidFill>
                <a:latin typeface="微软雅黑"/>
              </a:defRPr>
            </a:pPr>
            <a:r>
              <a:t>所有数据存储在本地</a:t>
            </a:r>
            <a:br/>
            <a:r>
              <a:t>不经过任何云服务器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371600"/>
            <a:ext cx="338328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15544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1E293B"/>
                </a:solidFill>
                <a:latin typeface="微软雅黑"/>
              </a:defRPr>
            </a:pPr>
            <a:r>
              <a:t>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16002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93B"/>
                </a:solidFill>
                <a:latin typeface="微软雅黑"/>
              </a:defRPr>
            </a:pPr>
            <a:r>
              <a:t>双引擎编辑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201168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  <a:latin typeface="微软雅黑"/>
              </a:defRPr>
            </a:pPr>
            <a:r>
              <a:t>所见即所得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42316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B8D"/>
                </a:solidFill>
                <a:latin typeface="微软雅黑"/>
              </a:defRPr>
            </a:pPr>
            <a:r>
              <a:t>富文本 + Markdown</a:t>
            </a:r>
            <a:br/>
            <a:r>
              <a:t>满足不同编辑习惯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931920"/>
            <a:ext cx="338328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1148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1E293B"/>
                </a:solidFill>
                <a:latin typeface="微软雅黑"/>
              </a:defRPr>
            </a:pPr>
            <a:r>
              <a:t>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1605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93B"/>
                </a:solidFill>
                <a:latin typeface="微软雅黑"/>
              </a:defRPr>
            </a:pPr>
            <a:r>
              <a:t>桌面便签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645920" y="457200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  <a:latin typeface="微软雅黑"/>
              </a:defRPr>
            </a:pPr>
            <a:r>
              <a:t>深度集成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98348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B8D"/>
                </a:solidFill>
                <a:latin typeface="微软雅黑"/>
              </a:defRPr>
            </a:pPr>
            <a:r>
              <a:t>系统托盘 + 桌面便签</a:t>
            </a:r>
            <a:br/>
            <a:r>
              <a:t>与工作流无缝融合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80559" y="3931920"/>
            <a:ext cx="338328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79" y="41148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1E293B"/>
                </a:solidFill>
                <a:latin typeface="微软雅黑"/>
              </a:defRPr>
            </a:pPr>
            <a:r>
              <a:t>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94959" y="41605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93B"/>
                </a:solidFill>
                <a:latin typeface="微软雅黑"/>
              </a:defRPr>
            </a:pPr>
            <a:r>
              <a:t>多格式导出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94959" y="457200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  <a:latin typeface="微软雅黑"/>
              </a:defRPr>
            </a:pPr>
            <a:r>
              <a:t>一键转换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79" y="498348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B8D"/>
                </a:solidFill>
                <a:latin typeface="微软雅黑"/>
              </a:defRPr>
            </a:pPr>
            <a:r>
              <a:t>PDF / HTML / Markdown</a:t>
            </a:r>
            <a:br/>
            <a:r>
              <a:t>/ JSON / TXT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0" y="3931920"/>
            <a:ext cx="338328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0" y="41148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1E293B"/>
                </a:solidFill>
                <a:latin typeface="微软雅黑"/>
              </a:defRPr>
            </a:pPr>
            <a:r>
              <a:t>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41605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93B"/>
                </a:solidFill>
                <a:latin typeface="微软雅黑"/>
              </a:defRPr>
            </a:pPr>
            <a:r>
              <a:t>个性定制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0" y="457200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  <a:latin typeface="微软雅黑"/>
              </a:defRPr>
            </a:pPr>
            <a:r>
              <a:t>主题丰富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498348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B8D"/>
                </a:solidFill>
                <a:latin typeface="微软雅黑"/>
              </a:defRPr>
            </a:pPr>
            <a:r>
              <a:t>明暗主题 + 6种便签配色</a:t>
            </a:r>
            <a:br/>
            <a:r>
              <a:t>面板自由缩放</a:t>
            </a:r>
          </a:p>
        </p:txBody>
      </p:sp>
    </p:spTree>
  </p:cSld>
  <p:transition spd="med">
    <p:cover dir="l"/>
  </p:transition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73E8"/>
                </a:solidFill>
                <a:latin typeface="微软雅黑"/>
              </a:defRPr>
            </a:pPr>
            <a:r>
              <a:t>03  功能全景展示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371600" cy="3657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2651760" cy="2377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2651760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293B"/>
                </a:solidFill>
                <a:latin typeface="微软雅黑"/>
              </a:defRPr>
            </a:pPr>
            <a:r>
              <a:t>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745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微软雅黑"/>
              </a:defRPr>
            </a:pPr>
            <a:r>
              <a:t>笔记管理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B8D"/>
                </a:solidFill>
                <a:latin typeface="微软雅黑"/>
              </a:defRPr>
            </a:pPr>
            <a:r>
              <a:t>多级笔记本 / 标签分类</a:t>
            </a:r>
            <a:br/>
            <a:r>
              <a:t>置顶收藏 / 全文搜索</a:t>
            </a:r>
            <a:br/>
            <a:r>
              <a:t>回收站 / 版本历史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188720"/>
            <a:ext cx="2651760" cy="2377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37560" y="1188720"/>
            <a:ext cx="2651760" cy="54864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14173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293B"/>
                </a:solidFill>
                <a:latin typeface="微软雅黑"/>
              </a:defRPr>
            </a:pPr>
            <a:r>
              <a:t>✏️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18745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微软雅黑"/>
              </a:defRPr>
            </a:pPr>
            <a:r>
              <a:t>富文本编辑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224028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B8D"/>
                </a:solidFill>
                <a:latin typeface="微软雅黑"/>
              </a:defRPr>
            </a:pPr>
            <a:r>
              <a:t>所见即所得 / 快捷工具栏</a:t>
            </a:r>
            <a:br/>
            <a:r>
              <a:t>表格插入 / 代码块</a:t>
            </a:r>
            <a:br/>
            <a:r>
              <a:t>待办清单 / 列表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188720"/>
            <a:ext cx="2651760" cy="2377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188720"/>
            <a:ext cx="265176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4173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293B"/>
                </a:solidFill>
                <a:latin typeface="微软雅黑"/>
              </a:defRPr>
            </a:pPr>
            <a:r>
              <a:t>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18745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微软雅黑"/>
              </a:defRPr>
            </a:pPr>
            <a:r>
              <a:t>Markdown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24028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B8D"/>
                </a:solidFill>
                <a:latin typeface="微软雅黑"/>
              </a:defRPr>
            </a:pPr>
            <a:r>
              <a:t>实时预览 / 语法高亮</a:t>
            </a:r>
            <a:br/>
            <a:r>
              <a:t>代码块渲染 / 表格</a:t>
            </a:r>
            <a:br/>
            <a:r>
              <a:t>数学公式 / Mermaid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98280" y="1188720"/>
            <a:ext cx="2651760" cy="2377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6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98280" y="1188720"/>
            <a:ext cx="2651760" cy="54864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72600" y="14173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293B"/>
                </a:solidFill>
                <a:latin typeface="微软雅黑"/>
              </a:defRPr>
            </a:pPr>
            <a:r>
              <a:t>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600" y="18745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微软雅黑"/>
              </a:defRPr>
            </a:pPr>
            <a:r>
              <a:t>桌面便签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224028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B8D"/>
                </a:solidFill>
                <a:latin typeface="微软雅黑"/>
              </a:defRPr>
            </a:pPr>
            <a:r>
              <a:t>透明无边框 / 系统托盘</a:t>
            </a:r>
            <a:br/>
            <a:r>
              <a:t>拖拽排序 / 优先级标记</a:t>
            </a:r>
            <a:br/>
            <a:r>
              <a:t>6种主题配色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840480"/>
            <a:ext cx="2651760" cy="2377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8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3840480"/>
            <a:ext cx="2651760" cy="54864"/>
          </a:xfrm>
          <a:prstGeom prst="rect">
            <a:avLst/>
          </a:prstGeom>
          <a:solidFill>
            <a:srgbClr val="E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06908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293B"/>
                </a:solidFill>
                <a:latin typeface="微软雅黑"/>
              </a:defRPr>
            </a:pPr>
            <a:r>
              <a:t>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5262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微软雅黑"/>
              </a:defRPr>
            </a:pPr>
            <a:r>
              <a:t>导出功能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89204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B8D"/>
                </a:solidFill>
                <a:latin typeface="微软雅黑"/>
              </a:defRPr>
            </a:pPr>
            <a:r>
              <a:t>PDF / HTML / Markdown</a:t>
            </a:r>
            <a:br/>
            <a:r>
              <a:t>JSON / 纯文本</a:t>
            </a:r>
            <a:br/>
            <a:r>
              <a:t>打印预览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37560" y="3840480"/>
            <a:ext cx="2651760" cy="2377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337560" y="3840480"/>
            <a:ext cx="2651760" cy="54864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11880" y="406908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293B"/>
                </a:solidFill>
                <a:latin typeface="微软雅黑"/>
              </a:defRPr>
            </a:pPr>
            <a:r>
              <a:t>⚙️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11880" y="45262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微软雅黑"/>
              </a:defRPr>
            </a:pPr>
            <a:r>
              <a:t>个性化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11880" y="489204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B8D"/>
                </a:solidFill>
                <a:latin typeface="微软雅黑"/>
              </a:defRPr>
            </a:pPr>
            <a:r>
              <a:t>明暗主题切换</a:t>
            </a:r>
            <a:br/>
            <a:r>
              <a:t>面板自由缩放</a:t>
            </a:r>
            <a:br/>
            <a:r>
              <a:t>多种列表视图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3840480"/>
            <a:ext cx="2651760" cy="2377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BC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17920" y="3840480"/>
            <a:ext cx="2651760" cy="54864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406908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293B"/>
                </a:solidFill>
                <a:latin typeface="微软雅黑"/>
              </a:defRPr>
            </a:pPr>
            <a:r>
              <a:t>📅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45262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微软雅黑"/>
              </a:defRPr>
            </a:pPr>
            <a:r>
              <a:t>效率工具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489204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B8D"/>
                </a:solidFill>
                <a:latin typeface="微软雅黑"/>
              </a:defRPr>
            </a:pPr>
            <a:r>
              <a:t>日历视图</a:t>
            </a:r>
            <a:br/>
            <a:r>
              <a:t>快速笔记模板</a:t>
            </a:r>
            <a:br/>
            <a:r>
              <a:t>快捷键支持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098280" y="3840480"/>
            <a:ext cx="2651760" cy="2377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95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098280" y="3840480"/>
            <a:ext cx="2651760" cy="54864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372600" y="406908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293B"/>
                </a:solidFill>
                <a:latin typeface="微软雅黑"/>
              </a:defRPr>
            </a:pPr>
            <a:r>
              <a:t>🖥️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72600" y="45262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微软雅黑"/>
              </a:defRPr>
            </a:pPr>
            <a:r>
              <a:t>桌面体验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72600" y="489204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B8D"/>
                </a:solidFill>
                <a:latin typeface="微软雅黑"/>
              </a:defRPr>
            </a:pPr>
            <a:r>
              <a:t>Electron 原生</a:t>
            </a:r>
            <a:br/>
            <a:r>
              <a:t>系统托盘驻留</a:t>
            </a:r>
            <a:br/>
            <a:r>
              <a:t>开机自启</a:t>
            </a:r>
          </a:p>
        </p:txBody>
      </p:sp>
    </p:spTree>
  </p:cSld>
  <p:transition spd="med">
    <p:split orient="horz"/>
  </p:transition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73E8"/>
                </a:solidFill>
                <a:latin typeface="微软雅黑"/>
              </a:defRPr>
            </a:pPr>
            <a:r>
              <a:t>04  产品实机演示 — 主界面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371600" cy="3657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B7B8D"/>
                </a:solidFill>
                <a:latin typeface="微软雅黑"/>
              </a:defRPr>
            </a:pPr>
            <a:r>
              <a:t>主题切换动态演示 (亮色 → 打开笔记 → 暗色 → Markdown → 亮色)</a:t>
            </a:r>
          </a:p>
        </p:txBody>
      </p:sp>
      <p:pic>
        <p:nvPicPr>
          <p:cNvPr id="5" name="Picture 4" descr="demo_them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554480"/>
            <a:ext cx="9418320" cy="5476634"/>
          </a:xfrm>
          <a:prstGeom prst="rect">
            <a:avLst/>
          </a:prstGeom>
          <a:ln w="25400">
            <a:solidFill>
              <a:srgbClr val="DDDDDD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1828800" y="5669280"/>
            <a:ext cx="8229600" cy="731520"/>
          </a:xfrm>
          <a:prstGeom prst="roundRect">
            <a:avLst>
              <a:gd name="adj" fmla="val 15000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03120" y="57150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73E8"/>
                </a:solidFill>
                <a:latin typeface="微软雅黑"/>
              </a:defRPr>
            </a:pPr>
            <a:r>
              <a:t>💡 动态演示：一键切换明暗主题，三栏布局支持拖拽缩放，编辑器无缝切换。</a:t>
            </a:r>
          </a:p>
        </p:txBody>
      </p:sp>
    </p:spTree>
  </p:cSld>
  <p:transition spd="med">
    <p:fade/>
  </p:transition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73E8"/>
                </a:solidFill>
                <a:latin typeface="微软雅黑"/>
              </a:defRPr>
            </a:pPr>
            <a:r>
              <a:t>04  产品实机演示 — 双引擎编辑器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371600" cy="3657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486400" cy="457200"/>
          </a:xfrm>
          <a:prstGeom prst="roundRect">
            <a:avLst>
              <a:gd name="adj" fmla="val 30000"/>
            </a:avLst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16152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✏️ 富文本编辑器 (WYSIWYG)</a:t>
            </a:r>
          </a:p>
        </p:txBody>
      </p:sp>
      <p:pic>
        <p:nvPicPr>
          <p:cNvPr id="6" name="Picture 5" descr="theme_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5486400" cy="319027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217920" y="1188720"/>
            <a:ext cx="5486400" cy="457200"/>
          </a:xfrm>
          <a:prstGeom prst="roundRect">
            <a:avLst>
              <a:gd name="adj" fmla="val 3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1216152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📖 Markdown 编辑器</a:t>
            </a:r>
          </a:p>
        </p:txBody>
      </p:sp>
      <p:pic>
        <p:nvPicPr>
          <p:cNvPr id="9" name="Picture 8" descr="theme_f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737360"/>
            <a:ext cx="5486400" cy="3190272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31520" y="5120640"/>
            <a:ext cx="3200400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931920" y="5120640"/>
            <a:ext cx="3840480" cy="36576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0" y="5120640"/>
            <a:ext cx="3840480" cy="3657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5120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对比维度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51206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富文本编辑器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51206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Markdown 编辑器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486400"/>
            <a:ext cx="3200400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931920" y="5486400"/>
            <a:ext cx="3840480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0" y="5486400"/>
            <a:ext cx="3840480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4864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E293B"/>
                </a:solidFill>
                <a:latin typeface="微软雅黑"/>
              </a:defRPr>
            </a:pPr>
            <a:r>
              <a:t>适用场景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5486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B8D"/>
                </a:solidFill>
                <a:latin typeface="微软雅黑"/>
              </a:defRPr>
            </a:pPr>
            <a:r>
              <a:t>日常笔记、会议记录、格式化文档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5486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B8D"/>
                </a:solidFill>
                <a:latin typeface="微软雅黑"/>
              </a:defRPr>
            </a:pPr>
            <a:r>
              <a:t>技术文档、代码笔记、学术写作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5852160"/>
            <a:ext cx="32004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931920" y="5852160"/>
            <a:ext cx="38404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72400" y="5852160"/>
            <a:ext cx="38404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8521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E293B"/>
                </a:solidFill>
                <a:latin typeface="微软雅黑"/>
              </a:defRPr>
            </a:pPr>
            <a:r>
              <a:t>编辑方式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5852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B8D"/>
                </a:solidFill>
                <a:latin typeface="微软雅黑"/>
              </a:defRPr>
            </a:pPr>
            <a:r>
              <a:t>工具栏点击、快捷键、所见即所得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79" y="5852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B8D"/>
                </a:solidFill>
                <a:latin typeface="微软雅黑"/>
              </a:defRPr>
            </a:pPr>
            <a:r>
              <a:t>Markdown 语法、实时预览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6217920"/>
            <a:ext cx="3200400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931920" y="6217920"/>
            <a:ext cx="3840480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72400" y="6217920"/>
            <a:ext cx="3840480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62179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E293B"/>
                </a:solidFill>
                <a:latin typeface="微软雅黑"/>
              </a:defRPr>
            </a:pPr>
            <a:r>
              <a:t>特色功能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6217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B8D"/>
                </a:solidFill>
                <a:latin typeface="微软雅黑"/>
              </a:defRPr>
            </a:pPr>
            <a:r>
              <a:t>表格、待办清单、多级列表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79" y="6217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B8D"/>
                </a:solidFill>
                <a:latin typeface="微软雅黑"/>
              </a:defRPr>
            </a:pPr>
            <a:r>
              <a:t>代码高亮、数学公式、流程图</a:t>
            </a:r>
          </a:p>
        </p:txBody>
      </p:sp>
    </p:spTree>
  </p:cSld>
  <p:transition spd="med">
    <p:push dir="l"/>
  </p:transition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73E8"/>
                </a:solidFill>
                <a:latin typeface="微软雅黑"/>
              </a:defRPr>
            </a:pPr>
            <a:r>
              <a:t>04  产品实机演示 — 桌面便签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371600" cy="3657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微软雅黑"/>
              </a:defRPr>
            </a:pPr>
            <a:r>
              <a:t>主题循环动态演示</a:t>
            </a:r>
          </a:p>
        </p:txBody>
      </p:sp>
      <p:pic>
        <p:nvPicPr>
          <p:cNvPr id="5" name="Picture 4" descr="demo_sticky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3377956" cy="4389120"/>
          </a:xfrm>
          <a:prstGeom prst="rect">
            <a:avLst/>
          </a:prstGeom>
          <a:ln w="25400">
            <a:solidFill>
              <a:srgbClr val="CCCCCC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029200" y="10972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微软雅黑"/>
              </a:defRPr>
            </a:pPr>
            <a:r>
              <a:t>6 种主题配色一览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554480"/>
            <a:ext cx="2103120" cy="274320"/>
          </a:xfrm>
          <a:prstGeom prst="roundRect">
            <a:avLst>
              <a:gd name="adj" fmla="val 30000"/>
            </a:avLst>
          </a:prstGeom>
          <a:solidFill>
            <a:srgbClr val="FFF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0" y="1563624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E293B"/>
                </a:solidFill>
                <a:latin typeface="微软雅黑"/>
              </a:defRPr>
            </a:pPr>
            <a:r>
              <a:t>经典浅色</a:t>
            </a:r>
          </a:p>
        </p:txBody>
      </p:sp>
      <p:pic>
        <p:nvPicPr>
          <p:cNvPr id="9" name="Picture 8" descr="sticky_f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0" y="1901952"/>
            <a:ext cx="1618604" cy="2103120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  <p:sp>
        <p:nvSpPr>
          <p:cNvPr id="10" name="Rounded Rectangle 9"/>
          <p:cNvSpPr/>
          <p:nvPr/>
        </p:nvSpPr>
        <p:spPr>
          <a:xfrm>
            <a:off x="7406640" y="1554480"/>
            <a:ext cx="2103120" cy="274320"/>
          </a:xfrm>
          <a:prstGeom prst="roundRect">
            <a:avLst>
              <a:gd name="adj" fmla="val 30000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06640" y="1563624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E293B"/>
                </a:solidFill>
                <a:latin typeface="微软雅黑"/>
              </a:defRPr>
            </a:pPr>
            <a:r>
              <a:t>宁静蓝</a:t>
            </a:r>
          </a:p>
        </p:txBody>
      </p:sp>
      <p:pic>
        <p:nvPicPr>
          <p:cNvPr id="12" name="Picture 11" descr="sticky_f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6680" y="1901952"/>
            <a:ext cx="1618604" cy="2103120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  <p:sp>
        <p:nvSpPr>
          <p:cNvPr id="13" name="Rounded Rectangle 12"/>
          <p:cNvSpPr/>
          <p:nvPr/>
        </p:nvSpPr>
        <p:spPr>
          <a:xfrm>
            <a:off x="9784080" y="1554480"/>
            <a:ext cx="2103120" cy="274320"/>
          </a:xfrm>
          <a:prstGeom prst="roundRect">
            <a:avLst>
              <a:gd name="adj" fmla="val 30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80" y="1563624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E293B"/>
                </a:solidFill>
                <a:latin typeface="微软雅黑"/>
              </a:defRPr>
            </a:pPr>
            <a:r>
              <a:t>清新绿</a:t>
            </a:r>
          </a:p>
        </p:txBody>
      </p:sp>
      <p:pic>
        <p:nvPicPr>
          <p:cNvPr id="15" name="Picture 14" descr="sticky_f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04120" y="1901952"/>
            <a:ext cx="1618604" cy="2103120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  <p:sp>
        <p:nvSpPr>
          <p:cNvPr id="16" name="Rounded Rectangle 15"/>
          <p:cNvSpPr/>
          <p:nvPr/>
        </p:nvSpPr>
        <p:spPr>
          <a:xfrm>
            <a:off x="5029200" y="4114800"/>
            <a:ext cx="2103120" cy="274320"/>
          </a:xfrm>
          <a:prstGeom prst="roundRect">
            <a:avLst>
              <a:gd name="adj" fmla="val 30000"/>
            </a:avLst>
          </a:prstGeom>
          <a:solidFill>
            <a:srgbClr val="F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0" y="4123944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E293B"/>
                </a:solidFill>
                <a:latin typeface="微软雅黑"/>
              </a:defRPr>
            </a:pPr>
            <a:r>
              <a:t>温馨粉</a:t>
            </a:r>
          </a:p>
        </p:txBody>
      </p:sp>
      <p:pic>
        <p:nvPicPr>
          <p:cNvPr id="18" name="Picture 17" descr="sticky_f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49240" y="4462272"/>
            <a:ext cx="1618604" cy="2103120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  <p:sp>
        <p:nvSpPr>
          <p:cNvPr id="19" name="Rounded Rectangle 18"/>
          <p:cNvSpPr/>
          <p:nvPr/>
        </p:nvSpPr>
        <p:spPr>
          <a:xfrm>
            <a:off x="7406640" y="4114800"/>
            <a:ext cx="2103120" cy="274320"/>
          </a:xfrm>
          <a:prstGeom prst="roundRect">
            <a:avLst>
              <a:gd name="adj" fmla="val 30000"/>
            </a:avLst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6640" y="4123944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E293B"/>
                </a:solidFill>
                <a:latin typeface="微软雅黑"/>
              </a:defRPr>
            </a:pPr>
            <a:r>
              <a:t>优雅紫</a:t>
            </a:r>
          </a:p>
        </p:txBody>
      </p:sp>
      <p:pic>
        <p:nvPicPr>
          <p:cNvPr id="21" name="Picture 20" descr="sticky_f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26680" y="4462272"/>
            <a:ext cx="1618604" cy="2103120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  <p:sp>
        <p:nvSpPr>
          <p:cNvPr id="22" name="Rounded Rectangle 21"/>
          <p:cNvSpPr/>
          <p:nvPr/>
        </p:nvSpPr>
        <p:spPr>
          <a:xfrm>
            <a:off x="9784080" y="4114800"/>
            <a:ext cx="2103120" cy="274320"/>
          </a:xfrm>
          <a:prstGeom prst="roundRect">
            <a:avLst>
              <a:gd name="adj" fmla="val 30000"/>
            </a:avLst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84080" y="4123944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极客暗色</a:t>
            </a:r>
          </a:p>
        </p:txBody>
      </p:sp>
      <p:pic>
        <p:nvPicPr>
          <p:cNvPr id="24" name="Picture 23" descr="sticky_f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04120" y="4462272"/>
            <a:ext cx="1618604" cy="2103120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</p:spTree>
  </p:cSld>
  <p:transition spd="med">
    <p:dissolve/>
  </p:transition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73E8"/>
                </a:solidFill>
                <a:latin typeface="微软雅黑"/>
              </a:defRPr>
            </a:pPr>
            <a:r>
              <a:t>05  技术架构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371600" cy="3657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188720"/>
            <a:ext cx="10515600" cy="822960"/>
          </a:xfrm>
          <a:prstGeom prst="roundRect">
            <a:avLst>
              <a:gd name="adj" fmla="val 10000"/>
            </a:avLst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234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应用层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600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微软雅黑"/>
              </a:defRPr>
            </a:pPr>
            <a:r>
              <a:t>Electron 主进程  ·  窗口管理  ·  系统托盘  ·  IPC 通信  ·  文件 I/O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2194560"/>
            <a:ext cx="9966960" cy="822960"/>
          </a:xfrm>
          <a:prstGeom prst="roundRect">
            <a:avLst>
              <a:gd name="adj" fmla="val 1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240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渲染层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60604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微软雅黑"/>
              </a:defRPr>
            </a:pPr>
            <a:r>
              <a:t>原生 HTML5 + CSS3 + JavaScript  ·  零框架依赖  ·  响应式布局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3200400"/>
            <a:ext cx="9418320" cy="822960"/>
          </a:xfrm>
          <a:prstGeom prst="roundRect">
            <a:avLst>
              <a:gd name="adj" fmla="val 10000"/>
            </a:avLst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45920" y="3246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编辑引擎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611880"/>
            <a:ext cx="8869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微软雅黑"/>
              </a:defRPr>
            </a:pPr>
            <a:r>
              <a:t>富文本引擎 (contentEditable)  ·  Markdown 解析器 (marked.js)  ·  代码高亮 (highlight.js)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45919" y="4206240"/>
            <a:ext cx="8869680" cy="822960"/>
          </a:xfrm>
          <a:prstGeom prst="roundRect">
            <a:avLst>
              <a:gd name="adj" fmla="val 10000"/>
            </a:avLst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20239" y="4251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数据层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39" y="4617720"/>
            <a:ext cx="8321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微软雅黑"/>
              </a:defRPr>
            </a:pPr>
            <a:r>
              <a:t>LocalStorage 持久化  ·  JSON 数据模型  ·  版本历史管理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920240" y="5212080"/>
            <a:ext cx="8321040" cy="822960"/>
          </a:xfrm>
          <a:prstGeom prst="roundRect">
            <a:avLst>
              <a:gd name="adj" fmla="val 10000"/>
            </a:avLst>
          </a:prstGeom>
          <a:solidFill>
            <a:srgbClr val="E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94560" y="5257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导出引擎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562356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微软雅黑"/>
              </a:defRPr>
            </a:pPr>
            <a:r>
              <a:t>PDF (Electron printToPDF)  ·  HTML / Markdown / JSON / TXT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73E8"/>
                </a:solidFill>
                <a:latin typeface="微软雅黑"/>
              </a:defRPr>
            </a:pPr>
            <a:r>
              <a:t>✅ 零外部框架  ·  ✅ 内存占用 &lt; 100MB  ·  ✅ 冷启动 &lt; 2s  ·  ✅ 安装包 &lt; 80MB  ·  ✅ 数据完全本地化</a:t>
            </a:r>
          </a:p>
        </p:txBody>
      </p:sp>
    </p:spTree>
  </p:cSld>
  <p:transition spd="med">
    <p:wipe dir="d"/>
  </p:transition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D47A1"/>
            </a:gs>
            <a:gs pos="100000">
              <a:srgbClr val="1976D2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06  商业模式与定价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3383280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E293B"/>
                </a:solidFill>
                <a:latin typeface="微软雅黑"/>
              </a:defRPr>
            </a:pPr>
            <a:r>
              <a:t>个人版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00C853"/>
                </a:solidFill>
                <a:latin typeface="微软雅黑"/>
              </a:defRPr>
            </a:pPr>
            <a:r>
              <a:t>免费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B8D"/>
                </a:solidFill>
                <a:latin typeface="微软雅黑"/>
              </a:defRPr>
            </a:pPr>
            <a:r>
              <a:t>/永久</a:t>
            </a:r>
          </a:p>
        </p:txBody>
      </p:sp>
      <p:sp>
        <p:nvSpPr>
          <p:cNvPr id="7" name="Rectangle 6"/>
          <p:cNvSpPr/>
          <p:nvPr/>
        </p:nvSpPr>
        <p:spPr>
          <a:xfrm>
            <a:off x="1188720" y="2834640"/>
            <a:ext cx="2468880" cy="182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0175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微软雅黑"/>
              </a:defRPr>
            </a:pPr>
            <a:r>
              <a:t>✅ 基础笔记功能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4290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微软雅黑"/>
              </a:defRPr>
            </a:pPr>
            <a:r>
              <a:t>✅ 富文本 + Markdown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840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微软雅黑"/>
              </a:defRPr>
            </a:pPr>
            <a:r>
              <a:t>✅ 桌面便签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2519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微软雅黑"/>
              </a:defRPr>
            </a:pPr>
            <a:r>
              <a:t>✅ 5种格式导出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6634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微软雅黑"/>
              </a:defRPr>
            </a:pPr>
            <a:r>
              <a:t>✅ 明暗主题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59" y="1051560"/>
            <a:ext cx="3383280" cy="5303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8100">
            <a:solidFill>
              <a:srgbClr val="FF6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394959" y="914400"/>
            <a:ext cx="1554480" cy="320040"/>
          </a:xfrm>
          <a:prstGeom prst="roundRect">
            <a:avLst>
              <a:gd name="adj" fmla="val 50000"/>
            </a:avLst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⭐ 推荐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59" y="13258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E293B"/>
                </a:solidFill>
                <a:latin typeface="微软雅黑"/>
              </a:defRPr>
            </a:pPr>
            <a:r>
              <a:t>专业版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59" y="178308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6D00"/>
                </a:solidFill>
                <a:latin typeface="微软雅黑"/>
              </a:defRPr>
            </a:pPr>
            <a:r>
              <a:t>¥99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59" y="23317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B8D"/>
                </a:solidFill>
                <a:latin typeface="微软雅黑"/>
              </a:defRPr>
            </a:pPr>
            <a:r>
              <a:t>/年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37759" y="2697480"/>
            <a:ext cx="2468880" cy="182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6319" y="28803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微软雅黑"/>
              </a:defRPr>
            </a:pPr>
            <a:r>
              <a:t>✅ 个人版全部功能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19" y="32918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微软雅黑"/>
              </a:defRPr>
            </a:pPr>
            <a:r>
              <a:t>✅ 端到端加密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19" y="37033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微软雅黑"/>
              </a:defRPr>
            </a:pPr>
            <a:r>
              <a:t>✅ 云同步（可选）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19" y="41148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微软雅黑"/>
              </a:defRPr>
            </a:pPr>
            <a:r>
              <a:t>✅ 高级模板库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19" y="45262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微软雅黑"/>
              </a:defRPr>
            </a:pPr>
            <a:r>
              <a:t>✅ 优先技术支持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19" y="49377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微软雅黑"/>
              </a:defRPr>
            </a:pPr>
            <a:r>
              <a:t>✅ 团队协作（5人）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1188720"/>
            <a:ext cx="3383280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14630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E293B"/>
                </a:solidFill>
                <a:latin typeface="微软雅黑"/>
              </a:defRPr>
            </a:pPr>
            <a:r>
              <a:t>企业版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192024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1A73E8"/>
                </a:solidFill>
                <a:latin typeface="微软雅黑"/>
              </a:defRPr>
            </a:pPr>
            <a:r>
              <a:t>¥299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24688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B8D"/>
                </a:solidFill>
                <a:latin typeface="微软雅黑"/>
              </a:defRPr>
            </a:pPr>
            <a:r>
              <a:t>/人/年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86800" y="2834640"/>
            <a:ext cx="2468880" cy="182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95360" y="30175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微软雅黑"/>
              </a:defRPr>
            </a:pPr>
            <a:r>
              <a:t>✅ 专业版全部功能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60" y="34290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微软雅黑"/>
              </a:defRPr>
            </a:pPr>
            <a:r>
              <a:t>✅ 私有化部署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60" y="3840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微软雅黑"/>
              </a:defRPr>
            </a:pPr>
            <a:r>
              <a:t>✅ LDAP/SSO 集成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95360" y="42519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微软雅黑"/>
              </a:defRPr>
            </a:pPr>
            <a:r>
              <a:t>✅ 管理后台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0" y="46634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微软雅黑"/>
              </a:defRPr>
            </a:pPr>
            <a:r>
              <a:t>✅ 7×24 专属支持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0" y="50749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微软雅黑"/>
              </a:defRPr>
            </a:pPr>
            <a:r>
              <a:t>✅ 定制开发</a:t>
            </a:r>
          </a:p>
        </p:txBody>
      </p:sp>
    </p:spTree>
  </p:cSld>
  <p:transition spd="med">
    <p:cover dir="l"/>
  </p:transition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73E8"/>
                </a:solidFill>
                <a:latin typeface="微软雅黑"/>
              </a:defRPr>
            </a:pPr>
            <a:r>
              <a:t>07  服务保障与支持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371600" cy="3657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2651760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2651760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25880" y="1463040"/>
            <a:ext cx="822960" cy="82296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23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E293B"/>
                </a:solidFill>
                <a:latin typeface="微软雅黑"/>
              </a:defRPr>
            </a:pPr>
            <a:r>
              <a:t>快速部署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73E8"/>
                </a:solidFill>
                <a:latin typeface="微软雅黑"/>
              </a:defRPr>
            </a:pPr>
            <a:r>
              <a:t>30分钟完成部署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200400"/>
            <a:ext cx="1920240" cy="182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38328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B8D"/>
                </a:solidFill>
                <a:latin typeface="微软雅黑"/>
              </a:defRPr>
            </a:pPr>
            <a:r>
              <a:t>• 安装包一键部署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93192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B8D"/>
                </a:solidFill>
                <a:latin typeface="微软雅黑"/>
              </a:defRPr>
            </a:pPr>
            <a:r>
              <a:t>• 支持静默安装 (企业批量)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480559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B8D"/>
                </a:solidFill>
                <a:latin typeface="微软雅黑"/>
              </a:defRPr>
            </a:pPr>
            <a:r>
              <a:t>• MSI / EXE 双格式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029199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B8D"/>
                </a:solidFill>
                <a:latin typeface="微软雅黑"/>
              </a:defRPr>
            </a:pPr>
            <a:r>
              <a:t>• 免依赖，开箱即用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7560" y="1188720"/>
            <a:ext cx="2651760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37560" y="1188720"/>
            <a:ext cx="2651760" cy="54864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206240" y="1463040"/>
            <a:ext cx="822960" cy="822960"/>
          </a:xfrm>
          <a:prstGeom prst="ellipse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2423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E293B"/>
                </a:solidFill>
                <a:latin typeface="微软雅黑"/>
              </a:defRPr>
            </a:pPr>
            <a:r>
              <a:t>技术支持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27889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C853"/>
                </a:solidFill>
                <a:latin typeface="微软雅黑"/>
              </a:defRPr>
            </a:pPr>
            <a:r>
              <a:t>多渠道响应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03320" y="3200400"/>
            <a:ext cx="1920240" cy="182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11880" y="338328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B8D"/>
                </a:solidFill>
                <a:latin typeface="微软雅黑"/>
              </a:defRPr>
            </a:pPr>
            <a:r>
              <a:t>• 工单系统 (24h 内响应)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1880" y="393192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B8D"/>
                </a:solidFill>
                <a:latin typeface="微软雅黑"/>
              </a:defRPr>
            </a:pPr>
            <a:r>
              <a:t>• 企业专属技术对接人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11880" y="4480559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B8D"/>
                </a:solidFill>
                <a:latin typeface="微软雅黑"/>
              </a:defRPr>
            </a:pPr>
            <a:r>
              <a:t>• 远程协助排障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11880" y="5029199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B8D"/>
                </a:solidFill>
                <a:latin typeface="微软雅黑"/>
              </a:defRPr>
            </a:pPr>
            <a:r>
              <a:t>• 季度回访与优化建议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1188720"/>
            <a:ext cx="2651760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1188720"/>
            <a:ext cx="265176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086600" y="1463040"/>
            <a:ext cx="822960" cy="82296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423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E293B"/>
                </a:solidFill>
                <a:latin typeface="微软雅黑"/>
              </a:defRPr>
            </a:pPr>
            <a:r>
              <a:t>培训服务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7889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C3AED"/>
                </a:solidFill>
                <a:latin typeface="微软雅黑"/>
              </a:defRPr>
            </a:pPr>
            <a:r>
              <a:t>快速上手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0" y="3200400"/>
            <a:ext cx="1920240" cy="182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338328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B8D"/>
                </a:solidFill>
                <a:latin typeface="微软雅黑"/>
              </a:defRPr>
            </a:pPr>
            <a:r>
              <a:t>• 产品使用手册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393192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B8D"/>
                </a:solidFill>
                <a:latin typeface="微软雅黑"/>
              </a:defRPr>
            </a:pPr>
            <a:r>
              <a:t>• 视频教程库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4480559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B8D"/>
                </a:solidFill>
                <a:latin typeface="微软雅黑"/>
              </a:defRPr>
            </a:pPr>
            <a:r>
              <a:t>• 企业定制培训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5029199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B8D"/>
                </a:solidFill>
                <a:latin typeface="微软雅黑"/>
              </a:defRPr>
            </a:pPr>
            <a:r>
              <a:t>• 最佳实践分享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98280" y="1188720"/>
            <a:ext cx="2651760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098280" y="1188720"/>
            <a:ext cx="2651760" cy="54864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966960" y="1463040"/>
            <a:ext cx="822960" cy="822960"/>
          </a:xfrm>
          <a:prstGeom prst="ellipse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81160" y="2423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E293B"/>
                </a:solidFill>
                <a:latin typeface="微软雅黑"/>
              </a:defRPr>
            </a:pPr>
            <a:r>
              <a:t>持续更新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81160" y="27889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6D00"/>
                </a:solidFill>
                <a:latin typeface="微软雅黑"/>
              </a:defRPr>
            </a:pPr>
            <a:r>
              <a:t>免费升级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464040" y="3200400"/>
            <a:ext cx="1920240" cy="182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72600" y="338328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B8D"/>
                </a:solidFill>
                <a:latin typeface="微软雅黑"/>
              </a:defRPr>
            </a:pPr>
            <a:r>
              <a:t>• 每月功能更新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72600" y="393192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B8D"/>
                </a:solidFill>
                <a:latin typeface="微软雅黑"/>
              </a:defRPr>
            </a:pPr>
            <a:r>
              <a:t>• 安全补丁及时推送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72600" y="4480559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B8D"/>
                </a:solidFill>
                <a:latin typeface="微软雅黑"/>
              </a:defRPr>
            </a:pPr>
            <a:r>
              <a:t>• 需求定制评估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72600" y="5029199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B8D"/>
                </a:solidFill>
                <a:latin typeface="微软雅黑"/>
              </a:defRPr>
            </a:pPr>
            <a:r>
              <a:t>• 版本更新日志</a:t>
            </a:r>
          </a:p>
        </p:txBody>
      </p:sp>
    </p:spTree>
  </p:cSld>
  <p:transition spd="med">
    <p:fade/>
  </p:transition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73E8"/>
                </a:solidFill>
                <a:latin typeface="微软雅黑"/>
              </a:defRPr>
            </a:pPr>
            <a:r>
              <a:t>08  竞品对比分析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371600" cy="3657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201168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对比维度</a:t>
            </a:r>
          </a:p>
        </p:txBody>
      </p:sp>
      <p:sp>
        <p:nvSpPr>
          <p:cNvPr id="6" name="Rectangle 5"/>
          <p:cNvSpPr/>
          <p:nvPr/>
        </p:nvSpPr>
        <p:spPr>
          <a:xfrm>
            <a:off x="2651760" y="1188720"/>
            <a:ext cx="2286000" cy="4572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51760" y="1188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云笔记</a:t>
            </a:r>
          </a:p>
        </p:txBody>
      </p:sp>
      <p:sp>
        <p:nvSpPr>
          <p:cNvPr id="8" name="Rectangle 7"/>
          <p:cNvSpPr/>
          <p:nvPr/>
        </p:nvSpPr>
        <p:spPr>
          <a:xfrm>
            <a:off x="4937760" y="1188720"/>
            <a:ext cx="228600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0" y="1188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Notion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23760" y="1188720"/>
            <a:ext cx="228600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0" y="1188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印象笔记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509760" y="1188720"/>
            <a:ext cx="228600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0" y="1188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语雀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1645920"/>
            <a:ext cx="2011680" cy="4572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16916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293B"/>
                </a:solidFill>
                <a:latin typeface="微软雅黑"/>
              </a:defRPr>
            </a:pPr>
            <a:r>
              <a:t>部署方式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51760" y="1645920"/>
            <a:ext cx="2286000" cy="4572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51760" y="1691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73E8"/>
                </a:solidFill>
                <a:latin typeface="微软雅黑"/>
              </a:defRPr>
            </a:pPr>
            <a:r>
              <a:t>本地部署 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37760" y="1645920"/>
            <a:ext cx="2286000" cy="4572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37760" y="1691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293B"/>
                </a:solidFill>
                <a:latin typeface="微软雅黑"/>
              </a:defRPr>
            </a:pPr>
            <a:r>
              <a:t>纯云端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23760" y="1645920"/>
            <a:ext cx="2286000" cy="4572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23760" y="1691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293B"/>
                </a:solidFill>
                <a:latin typeface="微软雅黑"/>
              </a:defRPr>
            </a:pPr>
            <a:r>
              <a:t>云端为主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509760" y="1645920"/>
            <a:ext cx="2286000" cy="4572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0" y="1691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293B"/>
                </a:solidFill>
                <a:latin typeface="微软雅黑"/>
              </a:defRPr>
            </a:pPr>
            <a:r>
              <a:t>纯云端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2103120"/>
            <a:ext cx="20116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21488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293B"/>
                </a:solidFill>
                <a:latin typeface="微软雅黑"/>
              </a:defRPr>
            </a:pPr>
            <a:r>
              <a:t>数据安全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51760" y="2103120"/>
            <a:ext cx="2286000" cy="457200"/>
          </a:xfrm>
          <a:prstGeom prst="rect">
            <a:avLst/>
          </a:prstGeom>
          <a:solidFill>
            <a:srgbClr val="EB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51760" y="2148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73E8"/>
                </a:solidFill>
                <a:latin typeface="微软雅黑"/>
              </a:defRPr>
            </a:pPr>
            <a:r>
              <a:t>完全本地 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37760" y="2103120"/>
            <a:ext cx="22860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37760" y="2148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293B"/>
                </a:solidFill>
                <a:latin typeface="微软雅黑"/>
              </a:defRPr>
            </a:pPr>
            <a:r>
              <a:t>云端存储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23760" y="2103120"/>
            <a:ext cx="22860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23760" y="2148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293B"/>
                </a:solidFill>
                <a:latin typeface="微软雅黑"/>
              </a:defRPr>
            </a:pPr>
            <a:r>
              <a:t>云端存储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509760" y="2103120"/>
            <a:ext cx="22860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09760" y="2148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293B"/>
                </a:solidFill>
                <a:latin typeface="微软雅黑"/>
              </a:defRPr>
            </a:pPr>
            <a:r>
              <a:t>云端存储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2560320"/>
            <a:ext cx="2011680" cy="4572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2606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293B"/>
                </a:solidFill>
                <a:latin typeface="微软雅黑"/>
              </a:defRPr>
            </a:pPr>
            <a:r>
              <a:t>启动速度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651760" y="2560320"/>
            <a:ext cx="2286000" cy="4572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651760" y="2606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73E8"/>
                </a:solidFill>
                <a:latin typeface="微软雅黑"/>
              </a:defRPr>
            </a:pPr>
            <a:r>
              <a:t>&lt; 2 秒 ⭐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2560320"/>
            <a:ext cx="2286000" cy="4572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937760" y="2606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293B"/>
                </a:solidFill>
                <a:latin typeface="微软雅黑"/>
              </a:defRPr>
            </a:pPr>
            <a:r>
              <a:t>3-5 秒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223760" y="2560320"/>
            <a:ext cx="2286000" cy="4572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23760" y="2606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293B"/>
                </a:solidFill>
                <a:latin typeface="微软雅黑"/>
              </a:defRPr>
            </a:pPr>
            <a:r>
              <a:t>3-8 秒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509760" y="2560320"/>
            <a:ext cx="2286000" cy="4572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509760" y="2606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293B"/>
                </a:solidFill>
                <a:latin typeface="微软雅黑"/>
              </a:defRPr>
            </a:pPr>
            <a:r>
              <a:t>2-4 秒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" y="3017520"/>
            <a:ext cx="20116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30632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293B"/>
                </a:solidFill>
                <a:latin typeface="微软雅黑"/>
              </a:defRPr>
            </a:pPr>
            <a:r>
              <a:t>内存占用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651760" y="3017520"/>
            <a:ext cx="2286000" cy="457200"/>
          </a:xfrm>
          <a:prstGeom prst="rect">
            <a:avLst/>
          </a:prstGeom>
          <a:solidFill>
            <a:srgbClr val="EB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651760" y="3063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73E8"/>
                </a:solidFill>
                <a:latin typeface="微软雅黑"/>
              </a:defRPr>
            </a:pPr>
            <a:r>
              <a:t>&lt; 100MB ⭐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937760" y="3017520"/>
            <a:ext cx="22860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937760" y="3063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293B"/>
                </a:solidFill>
                <a:latin typeface="微软雅黑"/>
              </a:defRPr>
            </a:pPr>
            <a:r>
              <a:t>200-500MB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223760" y="3017520"/>
            <a:ext cx="22860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223760" y="3063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293B"/>
                </a:solidFill>
                <a:latin typeface="微软雅黑"/>
              </a:defRPr>
            </a:pPr>
            <a:r>
              <a:t>300-800MB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509760" y="3017520"/>
            <a:ext cx="22860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509760" y="3063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293B"/>
                </a:solidFill>
                <a:latin typeface="微软雅黑"/>
              </a:defRPr>
            </a:pPr>
            <a:r>
              <a:t>浏览器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0080" y="3474720"/>
            <a:ext cx="2011680" cy="4572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0080" y="35204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293B"/>
                </a:solidFill>
                <a:latin typeface="微软雅黑"/>
              </a:defRPr>
            </a:pPr>
            <a:r>
              <a:t>离线支持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651760" y="3474720"/>
            <a:ext cx="2286000" cy="4572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651760" y="3520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73E8"/>
                </a:solidFill>
                <a:latin typeface="微软雅黑"/>
              </a:defRPr>
            </a:pPr>
            <a:r>
              <a:t>完全离线 ⭐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937760" y="3474720"/>
            <a:ext cx="2286000" cy="4572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937760" y="3520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293B"/>
                </a:solidFill>
                <a:latin typeface="微软雅黑"/>
              </a:defRPr>
            </a:pPr>
            <a:r>
              <a:t>部分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223760" y="3474720"/>
            <a:ext cx="2286000" cy="4572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223760" y="3520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293B"/>
                </a:solidFill>
                <a:latin typeface="微软雅黑"/>
              </a:defRPr>
            </a:pPr>
            <a:r>
              <a:t>部分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509760" y="3474720"/>
            <a:ext cx="2286000" cy="4572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509760" y="3520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293B"/>
                </a:solidFill>
                <a:latin typeface="微软雅黑"/>
              </a:defRPr>
            </a:pPr>
            <a:r>
              <a:t>无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40080" y="3931920"/>
            <a:ext cx="20116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40080" y="39776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293B"/>
                </a:solidFill>
                <a:latin typeface="微软雅黑"/>
              </a:defRPr>
            </a:pPr>
            <a:r>
              <a:t>年费 (个人)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651760" y="3931920"/>
            <a:ext cx="2286000" cy="457200"/>
          </a:xfrm>
          <a:prstGeom prst="rect">
            <a:avLst/>
          </a:prstGeom>
          <a:solidFill>
            <a:srgbClr val="EB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651760" y="3977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73E8"/>
                </a:solidFill>
                <a:latin typeface="微软雅黑"/>
              </a:defRPr>
            </a:pPr>
            <a:r>
              <a:t>免费 ⭐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937760" y="3931920"/>
            <a:ext cx="22860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937760" y="3977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293B"/>
                </a:solidFill>
                <a:latin typeface="微软雅黑"/>
              </a:defRPr>
            </a:pPr>
            <a:r>
              <a:t>¥96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223760" y="3931920"/>
            <a:ext cx="22860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223760" y="3977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293B"/>
                </a:solidFill>
                <a:latin typeface="微软雅黑"/>
              </a:defRPr>
            </a:pPr>
            <a:r>
              <a:t>¥148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509760" y="3931920"/>
            <a:ext cx="22860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509760" y="3977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293B"/>
                </a:solidFill>
                <a:latin typeface="微软雅黑"/>
              </a:defRPr>
            </a:pPr>
            <a:r>
              <a:t>免费/¥99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40080" y="4389120"/>
            <a:ext cx="2011680" cy="4572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40080" y="44348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293B"/>
                </a:solidFill>
                <a:latin typeface="微软雅黑"/>
              </a:defRPr>
            </a:pPr>
            <a:r>
              <a:t>Markdown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651760" y="4389120"/>
            <a:ext cx="2286000" cy="4572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651760" y="4434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73E8"/>
                </a:solidFill>
                <a:latin typeface="微软雅黑"/>
              </a:defRPr>
            </a:pPr>
            <a:r>
              <a:t>原生支持 ✅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937760" y="4389120"/>
            <a:ext cx="2286000" cy="4572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937760" y="4434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293B"/>
                </a:solidFill>
                <a:latin typeface="微软雅黑"/>
              </a:defRPr>
            </a:pPr>
            <a:r>
              <a:t>支持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223760" y="4389120"/>
            <a:ext cx="2286000" cy="4572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223760" y="4434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293B"/>
                </a:solidFill>
                <a:latin typeface="微软雅黑"/>
              </a:defRPr>
            </a:pPr>
            <a:r>
              <a:t>有限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509760" y="4389120"/>
            <a:ext cx="2286000" cy="4572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509760" y="4434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293B"/>
                </a:solidFill>
                <a:latin typeface="微软雅黑"/>
              </a:defRPr>
            </a:pPr>
            <a:r>
              <a:t>支持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40080" y="4846320"/>
            <a:ext cx="20116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40080" y="4892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293B"/>
                </a:solidFill>
                <a:latin typeface="微软雅黑"/>
              </a:defRPr>
            </a:pPr>
            <a:r>
              <a:t>桌面便签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651760" y="4846320"/>
            <a:ext cx="2286000" cy="457200"/>
          </a:xfrm>
          <a:prstGeom prst="rect">
            <a:avLst/>
          </a:prstGeom>
          <a:solidFill>
            <a:srgbClr val="EB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651760" y="4892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73E8"/>
                </a:solidFill>
                <a:latin typeface="微软雅黑"/>
              </a:defRPr>
            </a:pPr>
            <a:r>
              <a:t>原生支持 ⭐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937760" y="4846320"/>
            <a:ext cx="22860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937760" y="4892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293B"/>
                </a:solidFill>
                <a:latin typeface="微软雅黑"/>
              </a:defRPr>
            </a:pPr>
            <a:r>
              <a:t>无</a:t>
            </a:r>
          </a:p>
        </p:txBody>
      </p:sp>
      <p:sp>
        <p:nvSpPr>
          <p:cNvPr id="90" name="Rectangle 89"/>
          <p:cNvSpPr/>
          <p:nvPr/>
        </p:nvSpPr>
        <p:spPr>
          <a:xfrm>
            <a:off x="7223760" y="4846320"/>
            <a:ext cx="22860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223760" y="4892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293B"/>
                </a:solidFill>
                <a:latin typeface="微软雅黑"/>
              </a:defRPr>
            </a:pPr>
            <a:r>
              <a:t>无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509760" y="4846320"/>
            <a:ext cx="22860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509760" y="4892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293B"/>
                </a:solidFill>
                <a:latin typeface="微软雅黑"/>
              </a:defRPr>
            </a:pPr>
            <a:r>
              <a:t>无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40080" y="5303520"/>
            <a:ext cx="2011680" cy="4572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40080" y="53492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293B"/>
                </a:solidFill>
                <a:latin typeface="微软雅黑"/>
              </a:defRPr>
            </a:pPr>
            <a:r>
              <a:t>定制开发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651760" y="5303520"/>
            <a:ext cx="2286000" cy="4572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651760" y="5349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73E8"/>
                </a:solidFill>
                <a:latin typeface="微软雅黑"/>
              </a:defRPr>
            </a:pPr>
            <a:r>
              <a:t>支持 ✅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937760" y="5303520"/>
            <a:ext cx="2286000" cy="4572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937760" y="5349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293B"/>
                </a:solidFill>
                <a:latin typeface="微软雅黑"/>
              </a:defRPr>
            </a:pPr>
            <a:r>
              <a:t>不支持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223760" y="5303520"/>
            <a:ext cx="2286000" cy="4572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223760" y="5349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293B"/>
                </a:solidFill>
                <a:latin typeface="微软雅黑"/>
              </a:defRPr>
            </a:pPr>
            <a:r>
              <a:t>不支持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9509760" y="5303520"/>
            <a:ext cx="2286000" cy="4572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9509760" y="5349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293B"/>
                </a:solidFill>
                <a:latin typeface="微软雅黑"/>
              </a:defRPr>
            </a:pPr>
            <a:r>
              <a:t>不支持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40080" y="5760720"/>
            <a:ext cx="20116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40080" y="58064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293B"/>
                </a:solidFill>
                <a:latin typeface="微软雅黑"/>
              </a:defRPr>
            </a:pPr>
            <a:r>
              <a:t>私有化部署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2651760" y="5760720"/>
            <a:ext cx="2286000" cy="457200"/>
          </a:xfrm>
          <a:prstGeom prst="rect">
            <a:avLst/>
          </a:prstGeom>
          <a:solidFill>
            <a:srgbClr val="EB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2651760" y="5806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73E8"/>
                </a:solidFill>
                <a:latin typeface="微软雅黑"/>
              </a:defRPr>
            </a:pPr>
            <a:r>
              <a:t>原生支持 ⭐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937760" y="5760720"/>
            <a:ext cx="22860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4937760" y="5806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293B"/>
                </a:solidFill>
                <a:latin typeface="微软雅黑"/>
              </a:defRPr>
            </a:pPr>
            <a:r>
              <a:t>不支持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223760" y="5760720"/>
            <a:ext cx="22860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223760" y="5806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293B"/>
                </a:solidFill>
                <a:latin typeface="微软雅黑"/>
              </a:defRPr>
            </a:pPr>
            <a:r>
              <a:t>不支持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9509760" y="5760720"/>
            <a:ext cx="22860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9509760" y="5806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293B"/>
                </a:solidFill>
                <a:latin typeface="微软雅黑"/>
              </a:defRPr>
            </a:pPr>
            <a:r>
              <a:t>企业版</a:t>
            </a:r>
          </a:p>
        </p:txBody>
      </p:sp>
    </p:spTree>
  </p:cSld>
  <p:transition spd="med">
    <p:push dir="l"/>
  </p:transition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73E8"/>
                </a:solidFill>
                <a:latin typeface="微软雅黑"/>
              </a:defRPr>
            </a:pPr>
            <a:r>
              <a:t>09  产品路线图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371600" cy="3657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2011680"/>
            <a:ext cx="10332720" cy="36576"/>
          </a:xfrm>
          <a:prstGeom prst="rect">
            <a:avLst/>
          </a:prstGeom>
          <a:solidFill>
            <a:srgbClr val="6B7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554480" y="1828800"/>
            <a:ext cx="502920" cy="502920"/>
          </a:xfrm>
          <a:prstGeom prst="ellipse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v1.0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34440" y="141732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当前版本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2560320"/>
            <a:ext cx="2468880" cy="3474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26974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853"/>
                </a:solidFill>
                <a:latin typeface="微软雅黑"/>
              </a:defRPr>
            </a:pPr>
            <a:r>
              <a:t>2026 Q1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0175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微软雅黑"/>
              </a:defRPr>
            </a:pPr>
            <a:r>
              <a:t>基础版发布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3383280"/>
            <a:ext cx="1920240" cy="182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35204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微软雅黑"/>
              </a:defRPr>
            </a:pPr>
            <a:r>
              <a:t>✅ 核心编辑功能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40233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微软雅黑"/>
              </a:defRPr>
            </a:pPr>
            <a:r>
              <a:t>✅ 桌面便签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45262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微软雅黑"/>
              </a:defRPr>
            </a:pPr>
            <a:r>
              <a:t>✅ 多格式导出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50292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微软雅黑"/>
              </a:defRPr>
            </a:pPr>
            <a:r>
              <a:t>✅ 明暗主题</a:t>
            </a:r>
          </a:p>
        </p:txBody>
      </p:sp>
      <p:sp>
        <p:nvSpPr>
          <p:cNvPr id="15" name="Oval 14"/>
          <p:cNvSpPr/>
          <p:nvPr/>
        </p:nvSpPr>
        <p:spPr>
          <a:xfrm>
            <a:off x="4343400" y="1874520"/>
            <a:ext cx="411480" cy="41148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v1.5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40480" y="2560320"/>
            <a:ext cx="2468880" cy="3474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23360" y="26974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73E8"/>
                </a:solidFill>
                <a:latin typeface="微软雅黑"/>
              </a:defRPr>
            </a:pPr>
            <a:r>
              <a:t>2026 Q2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30175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微软雅黑"/>
              </a:defRPr>
            </a:pPr>
            <a:r>
              <a:t>体验升级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0" y="3383280"/>
            <a:ext cx="1920240" cy="182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23360" y="35204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B8D"/>
                </a:solidFill>
                <a:latin typeface="微软雅黑"/>
              </a:defRPr>
            </a:pPr>
            <a:r>
              <a:t>🔲 云同步（可选）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0" y="40233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B8D"/>
                </a:solidFill>
                <a:latin typeface="微软雅黑"/>
              </a:defRPr>
            </a:pPr>
            <a:r>
              <a:t>🔲 AI 智能摘要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23360" y="45262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B8D"/>
                </a:solidFill>
                <a:latin typeface="微软雅黑"/>
              </a:defRPr>
            </a:pPr>
            <a:r>
              <a:t>🔲 全文检索优化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23360" y="50292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B8D"/>
                </a:solidFill>
                <a:latin typeface="微软雅黑"/>
              </a:defRPr>
            </a:pPr>
            <a:r>
              <a:t>🔲 移动端适配</a:t>
            </a:r>
          </a:p>
        </p:txBody>
      </p:sp>
      <p:sp>
        <p:nvSpPr>
          <p:cNvPr id="24" name="Oval 23"/>
          <p:cNvSpPr/>
          <p:nvPr/>
        </p:nvSpPr>
        <p:spPr>
          <a:xfrm>
            <a:off x="7086600" y="187452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v2.0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0" y="2560320"/>
            <a:ext cx="2468880" cy="3474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0" y="26974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C3AED"/>
                </a:solidFill>
                <a:latin typeface="微软雅黑"/>
              </a:defRPr>
            </a:pPr>
            <a:r>
              <a:t>2026 Q3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30175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微软雅黑"/>
              </a:defRPr>
            </a:pPr>
            <a:r>
              <a:t>企业版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0" y="3383280"/>
            <a:ext cx="1920240" cy="182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66560" y="35204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B8D"/>
                </a:solidFill>
                <a:latin typeface="微软雅黑"/>
              </a:defRPr>
            </a:pPr>
            <a:r>
              <a:t>🔲 团队协作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40233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B8D"/>
                </a:solidFill>
                <a:latin typeface="微软雅黑"/>
              </a:defRPr>
            </a:pPr>
            <a:r>
              <a:t>🔲 权限管理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45262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B8D"/>
                </a:solidFill>
                <a:latin typeface="微软雅黑"/>
              </a:defRPr>
            </a:pPr>
            <a:r>
              <a:t>🔲 私有化部署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50292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B8D"/>
                </a:solidFill>
                <a:latin typeface="微软雅黑"/>
              </a:defRPr>
            </a:pPr>
            <a:r>
              <a:t>🔲 SSO 集成</a:t>
            </a:r>
          </a:p>
        </p:txBody>
      </p:sp>
      <p:sp>
        <p:nvSpPr>
          <p:cNvPr id="33" name="Oval 32"/>
          <p:cNvSpPr/>
          <p:nvPr/>
        </p:nvSpPr>
        <p:spPr>
          <a:xfrm>
            <a:off x="9829800" y="1874520"/>
            <a:ext cx="411480" cy="411480"/>
          </a:xfrm>
          <a:prstGeom prst="ellipse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v3.0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326880" y="2560320"/>
            <a:ext cx="2468880" cy="3474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FF6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09760" y="26974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6D00"/>
                </a:solidFill>
                <a:latin typeface="微软雅黑"/>
              </a:defRPr>
            </a:pPr>
            <a:r>
              <a:t>2026 Q4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09760" y="30175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微软雅黑"/>
              </a:defRPr>
            </a:pPr>
            <a:r>
              <a:t>生态扩展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01200" y="3383280"/>
            <a:ext cx="1920240" cy="182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509760" y="35204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B8D"/>
                </a:solidFill>
                <a:latin typeface="微软雅黑"/>
              </a:defRPr>
            </a:pPr>
            <a:r>
              <a:t>🔲 插件市场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09760" y="40233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B8D"/>
                </a:solidFill>
                <a:latin typeface="微软雅黑"/>
              </a:defRPr>
            </a:pPr>
            <a:r>
              <a:t>🔲 知识图谱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09760" y="45262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B8D"/>
                </a:solidFill>
                <a:latin typeface="微软雅黑"/>
              </a:defRPr>
            </a:pPr>
            <a:r>
              <a:t>🔲 API 开放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09760" y="50292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B8D"/>
                </a:solidFill>
                <a:latin typeface="微软雅黑"/>
              </a:defRPr>
            </a:pPr>
            <a:r>
              <a:t>🔲 多端同步</a:t>
            </a:r>
          </a:p>
        </p:txBody>
      </p:sp>
    </p:spTree>
  </p:cSld>
  <p:transition spd="med">
    <p:split orient="horz"/>
  </p:transition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73E8"/>
                </a:solidFill>
                <a:latin typeface="微软雅黑"/>
              </a:defRPr>
            </a:pPr>
            <a:r>
              <a:t>应用场景与客户价值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371600" cy="3657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39496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73152" cy="246888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463040"/>
            <a:ext cx="731520" cy="73152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508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293B"/>
                </a:solidFill>
                <a:latin typeface="微软雅黑"/>
              </a:defRPr>
            </a:pPr>
            <a:r>
              <a:t>企业办公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965960"/>
            <a:ext cx="3931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B8D"/>
                </a:solidFill>
                <a:latin typeface="微软雅黑"/>
              </a:defRPr>
            </a:pPr>
            <a:r>
              <a:t>会议纪要 / OKR 管理 / 周报月报</a:t>
            </a:r>
            <a:br/>
            <a:r>
              <a:t>数据本地化保证信息安全</a:t>
            </a:r>
            <a:br/>
            <a:r>
              <a:t>团队共享笔记本协作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45920" y="3108960"/>
            <a:ext cx="3200400" cy="320040"/>
          </a:xfrm>
          <a:prstGeom prst="roundRect">
            <a:avLst>
              <a:gd name="adj" fmla="val 50000"/>
            </a:avLst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适合: 中大型企业、金融机构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188720"/>
            <a:ext cx="539496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188720"/>
            <a:ext cx="73152" cy="24688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92240" y="146304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1508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293B"/>
                </a:solidFill>
                <a:latin typeface="微软雅黑"/>
              </a:defRPr>
            </a:pPr>
            <a:r>
              <a:t>技术团队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1965960"/>
            <a:ext cx="3931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B8D"/>
                </a:solidFill>
                <a:latin typeface="微软雅黑"/>
              </a:defRPr>
            </a:pPr>
            <a:r>
              <a:t>API 文档 / 代码笔记 / 技术方案</a:t>
            </a:r>
            <a:br/>
            <a:r>
              <a:t>Markdown 原生支持</a:t>
            </a:r>
            <a:br/>
            <a:r>
              <a:t>代码高亮 + 流程图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0" y="3108960"/>
            <a:ext cx="3200400" cy="32004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适合: 互联网公司、研发部门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931920"/>
            <a:ext cx="539496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931920"/>
            <a:ext cx="73152" cy="246888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4206240"/>
            <a:ext cx="731520" cy="731520"/>
          </a:xfrm>
          <a:prstGeom prst="ellipse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4251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293B"/>
                </a:solidFill>
                <a:latin typeface="微软雅黑"/>
              </a:defRPr>
            </a:pPr>
            <a:r>
              <a:t>教育培训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709160"/>
            <a:ext cx="3931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B8D"/>
                </a:solidFill>
                <a:latin typeface="微软雅黑"/>
              </a:defRPr>
            </a:pPr>
            <a:r>
              <a:t>课堂笔记 / 学习计划 / 知识整理</a:t>
            </a:r>
            <a:br/>
            <a:r>
              <a:t>待办清单跟踪学习进度</a:t>
            </a:r>
            <a:br/>
            <a:r>
              <a:t>便签提醒重要事项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645920" y="5852160"/>
            <a:ext cx="3200400" cy="320040"/>
          </a:xfrm>
          <a:prstGeom prst="roundRect">
            <a:avLst>
              <a:gd name="adj" fmla="val 50000"/>
            </a:avLst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适合: 高校、培训机构、学生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931920"/>
            <a:ext cx="539496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FF6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3931920"/>
            <a:ext cx="73152" cy="246888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92240" y="4206240"/>
            <a:ext cx="731520" cy="731520"/>
          </a:xfrm>
          <a:prstGeom prst="ellipse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4251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293B"/>
                </a:solidFill>
                <a:latin typeface="微软雅黑"/>
              </a:defRPr>
            </a:pPr>
            <a:r>
              <a:t>个人效率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4709160"/>
            <a:ext cx="3931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B8D"/>
                </a:solidFill>
                <a:latin typeface="微软雅黑"/>
              </a:defRPr>
            </a:pPr>
            <a:r>
              <a:t>日记 / 读书笔记 / 灵感记录</a:t>
            </a:r>
            <a:br/>
            <a:r>
              <a:t>桌面便签管理每日待办</a:t>
            </a:r>
            <a:br/>
            <a:r>
              <a:t>多格式导出分享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06640" y="5852160"/>
            <a:ext cx="3200400" cy="320040"/>
          </a:xfrm>
          <a:prstGeom prst="roundRect">
            <a:avLst>
              <a:gd name="adj" fmla="val 50000"/>
            </a:avLst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适合: 自由职业者、写作者</a:t>
            </a:r>
          </a:p>
        </p:txBody>
      </p:sp>
    </p:spTree>
  </p:cSld>
  <p:transition spd="med">
    <p:dissolve/>
  </p:transition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A237E"/>
            </a:gs>
            <a:gs pos="100000">
              <a:srgbClr val="0D47A1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1828800"/>
            <a:ext cx="6400800" cy="640080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5486400" cy="5486400"/>
          </a:xfrm>
          <a:prstGeom prst="ellipse">
            <a:avLst/>
          </a:prstGeom>
          <a:solidFill>
            <a:srgbClr val="15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FFFFFF"/>
                </a:solidFill>
                <a:latin typeface="微软雅黑"/>
              </a:defRPr>
            </a:pPr>
            <a:r>
              <a:t>感谢聆听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2743200"/>
            <a:ext cx="3017520" cy="36576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BBDEFB"/>
                </a:solidFill>
                <a:latin typeface="微软雅黑"/>
              </a:defRPr>
            </a:pPr>
            <a:r>
              <a:t>云笔记 — 让知识管理更简单、更安全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4114800"/>
            <a:ext cx="5760720" cy="1828800"/>
          </a:xfrm>
          <a:prstGeom prst="roundRect">
            <a:avLst>
              <a:gd name="adj" fmla="val 10000"/>
            </a:avLst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429768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400"/>
              </a:spcAft>
              <a:defRPr sz="1600" b="0">
                <a:solidFill>
                  <a:srgbClr val="BBDEFB"/>
                </a:solidFill>
                <a:latin typeface="微软雅黑"/>
              </a:defRPr>
            </a:pPr>
            <a:r>
              <a:t>📧  邮箱：sales@cloudnotes.com</a:t>
            </a:r>
          </a:p>
          <a:p>
            <a:pPr algn="ctr">
              <a:lnSpc>
                <a:spcPct val="150000"/>
              </a:lnSpc>
              <a:spcAft>
                <a:spcPts val="400"/>
              </a:spcAft>
              <a:defRPr sz="1600" b="0">
                <a:solidFill>
                  <a:srgbClr val="BBDEFB"/>
                </a:solidFill>
                <a:latin typeface="微软雅黑"/>
              </a:defRPr>
            </a:pPr>
            <a:r>
              <a:t>📱  电话：400-888-NOTE</a:t>
            </a:r>
          </a:p>
          <a:p>
            <a:pPr algn="ctr">
              <a:lnSpc>
                <a:spcPct val="150000"/>
              </a:lnSpc>
              <a:spcAft>
                <a:spcPts val="400"/>
              </a:spcAft>
              <a:defRPr sz="1600" b="0">
                <a:solidFill>
                  <a:srgbClr val="BBDEFB"/>
                </a:solidFill>
                <a:latin typeface="微软雅黑"/>
              </a:defRPr>
            </a:pPr>
            <a:r>
              <a:t>🌐  官网：www.cloudnotes.com</a:t>
            </a:r>
          </a:p>
        </p:txBody>
      </p:sp>
    </p:spTree>
  </p:cSld>
  <p:transition spd="med">
    <p:fade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name="CWMa2c81f90161311f1800049f4000049f4" pid="2" fmtid="{D5CDD505-2E9C-101B-9397-08002B2CF9AE}">
    <vt:lpwstr>CWMQOgA2gJ3J7M7SKo/BL03MREX1EOA7/qkPIhIE2treU6BbcB+fCm9Muw0IK3nlYTR1A9xfItZB9mPY/MeULWgtQ==</vt:lpwstr>
  </property>
</Properties>
</file>